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75" r:id="rId4"/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今天的“三步去除AI焦虑，跟上AI时代”零基础AI入门工作坊。在接下来的40分钟里，我们将一起探索如何轻松上手AI，彻底告别焦虑。今天的培训全程无代码，听完就能落地，让我们一起开启这段轻松有趣的AI探索之旅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想先问大家三个问题。第一，身边人都在聊AI，你是不是也感到焦虑，不知道从哪下手？第二，想尝试AI工具，是不是一看到专业术语就打退堂鼓，觉得自己肯定学不会？第三，你是不是也试过几个AI工具，但感觉它们并没有真正帮到你，反而让你觉得AI离自己很远？如果这些问题让你产生了共鸣，那么今天的分享就是为你准备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其实，我们的焦虑大多来自于一些错误的认知。比如，很多人觉得学AI必须懂代码，只有程序员才能用好。但事实是，AI是给所有人用的工具，就像我们用手机一样，不需要懂芯片技术。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还有人觉得要学会所有AI工具才算跟上时代，但其实，你只需要深度用好一两个工具，解决自己的真实问题，就已经超过了90%的人。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最重要的是，AI不会淘汰人，但会用AI的人，可能会淘汰不会用AI的人。所以，我们的目标不是成为AI专家，而是成为会用AI的人。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在今天这40分钟里，你到底能收获什么呢？首先，我们会彻底帮你告别AI焦虑，让你明白AI其实离我们很近。其次，我们会通过一个实战案例，让你亲眼见证如何用AI零代码生成一个专属的个人网站。接着，我们会教给你一套普通人学AI的三步黄金法则，简单易学，听完就能落地。最后，也是最重要的，你会学会一个所有AI工具都通用的核心技巧，让你走出会场就能立刻用上AI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，我们的核心玩法非常简单有趣，就是一起用AI做一个专属的个人网站。整个过程，你不需要敲一行代码，也不需要懂任何编程知识。你只需要告诉AI你想要什么，剩下的工作就全部交给它。你的网站可以包含个人介绍、作品展示、兴趣爱好等等。40分钟后，你就能亲手拥有一个属于你自己的个人网站。现在，大家可以想一想，你希望在自己的网站里放些什么内容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的，现在我们正式开始实操。大家可以跟着我的步骤来。第一步，打开Trae软件，新建一个项目目录。第二步，进入目录，新建一个对话。第三步，把我们提前准备好的提示词粘贴进去，并填入你刚才想的内容。第四步，我们还可以用语音录入功能，补充更多想法。第五步，点击“优化输入内容”，让AI帮我们整理需求。最后一步，点击发送，然后我们就可以耐心等待AI为我们生成网站了。这个过程非常简单，大家课后也可以根据手册里的步骤自己复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在等待AI生成网站的同时，我们来学习今天最核心的内容：普通人学AI的三步黄金法则。这三步非常简单，层层递进，零基础也能轻松跟上。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第一步是“了解”，通过碎片化学习，搞清楚AI到底能做什么。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第二步是“使用”，选择一两个工具深度使用，解决自己的真实问题。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第三步是“掌握”，通过系统化学习，建立对AI的整体认知，找到适合自己的使用方向。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接下来，我们会详细讲解每一步。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步：碎片化了解。这个阶段的核心目标很简单，就是搞清楚“什么AI工具能解决什么问题”。你不需要学习任何技术，只需要关注应用。我推荐大家关注一些非技术类的公众号，比如“量子位”的入门版内容，或者直接在短视频平台搜索“AI工具实操教程”。你也可以加入一些社群，看看别人是怎么用AI的。记住，这个阶段不用贪多，每天花5分钟，记住一个AI的用法就足够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第二步，深度使用。这一步的核心是“用好一个，胜过100个”。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我为大家推荐了几类零基础友好的工具，分为通用效率、实操创作和设计创作三类。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通用效率类，比如文心一言和ChatGPT，适合处理文案、规划和资料整理；实操创作类推荐Trae，能零代码做网页；设计类则推荐Canva可画，做海报和PPT非常方便。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你不需要全部都学，只需要根据自己的需求选择一个就好。把一个工具用熟练，你就会发现所有AI工具的逻辑都是相通的，再学其他的就非常快了。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到了今天最重要的部分，也是用好所有AI工具的核心秘诀——学会提需求。无论你用哪个AI工具，记住这三个黄金关键点，就能让AI精准地为你干活。第一，说清楚你要做什么，目标要明确。第二，说清楚具体要求，比如风格、字数、包含的内容。第三，说清楚你的身份和使用场景，让AI更懂你。学会这三点，你就掌握了驾驭AI的核心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光说不练假把式，我们来看几个正反案例对比。左边是反面案例，比如“帮我写个文案”，这种模糊的需求，AI很难做好。而右边是正面案例，比如“我是水果店店主，要写朋友圈草莓推广文案……”，你看，它清晰地说明了身份、目标、要求和场景，AI就能精准地输出你想要的内容。通过这个对比，大家是不是一下子就明白怎么提需求了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完了，我们来做个现场小练习。请大家花1分钟时间，用我们刚学的三个关键点，写下你的第一个AI需求。你可以写任何你想让AI帮你做的事情。写完之后，可以举手分享，我们现场一起来帮你优化，让它成为一个AI能精准执行的完美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看第三步：系统化学习。这个阶段的目标不是让你去学编程，而是建立对AI的整体认知，找到适合自己的使用场景。我推荐大家可以读一些面向大众的入门书籍，比如《AI时代的生存法则》，或者参加一些大厂官方的免费入门培训。记住，系统化学习的目的是让AI真正帮到你的工作和生活，而不是成为一个技术专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的AI已经完成了工作！大家请看屏幕，这就是我们刚刚一起生成的个人网站。是不是非常漂亮？整个过程，我们没有写一行代码，只用了不到10分钟，AI就帮我们完成了整个网站的开发。这就是AI的力量，它能把我们的想法快速变成现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复盘一下整个过程。普通人用AI，其实只需要做好三件事。第一，用我们学的三个黄金关键点，提出清晰的需求。第二，对AI生成的成果进行验收，看看是不是你想要的，如果不是，就告诉它怎么改。第三，记住，AI是你的助理，最终的决定权永远在你手里。掌握这三点，你就能轻松驾驭AI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培训即将结束，但学习才刚刚开始。为了让大家真正告别焦虑，我给大家布置两个非常简单的课后作业。第一，立刻实操，打开Trae，用今天学的技巧，让AI帮你做一件小事。第二，持续积累，关注一个我们今天推荐的公众号，每天花5分钟学习一个AI用法。记住，告别焦虑的唯一方法就是真正用起来，大胆去尝试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大家课后复习和深入学习，我们还准备了一份零基础AI入门资源包。大家可以扫描屏幕上的二维码，添加我们的工作人员，就能免费领取。里面包含了今天培训的所有资料，还有一些额外的学习资源，希望能帮助大家更好地开启AI之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用三句话来总结今天的核心收获。第一，普通人学AI，只需要遵循“了解、使用、掌握”这三步，无需任何技术基础。第二，AI是我们的工具和助理，不是对手，我们负责提需求和做决策。第三，也是最重要的，AI的门槛从来不是技术，而是“敢用”，你多尝试一次，焦虑就会少一分。希望大家都能勇敢地迈出第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我的分享到这里就结束了，非常感谢大家的聆听！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现在是提问和交流环节，大家有任何关于AI学习和使用的问题，都可以提出来，我们一起交流探讨。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如果您对后续的学习资料感兴趣，或者有合作意向，欢迎关注屏幕下方的公众号、加入我们的交流群，或者直接联系我。谢谢大家！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5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9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svg"/><Relationship Id="rId7" Type="http://schemas.openxmlformats.org/officeDocument/2006/relationships/image" Target="../media/image4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41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9.svg"/><Relationship Id="rId11" Type="http://schemas.openxmlformats.org/officeDocument/2006/relationships/image" Target="../media/image48.png"/><Relationship Id="rId10" Type="http://schemas.openxmlformats.org/officeDocument/2006/relationships/image" Target="../media/image47.svg"/><Relationship Id="rId1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1.sv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47.svg"/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47.svg"/><Relationship Id="rId5" Type="http://schemas.openxmlformats.org/officeDocument/2006/relationships/image" Target="../media/image7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.svg"/><Relationship Id="rId7" Type="http://schemas.openxmlformats.org/officeDocument/2006/relationships/image" Target="../media/image94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4.svg"/><Relationship Id="rId3" Type="http://schemas.openxmlformats.org/officeDocument/2006/relationships/image" Target="../media/image103.png"/><Relationship Id="rId2" Type="http://schemas.openxmlformats.org/officeDocument/2006/relationships/image" Target="../media/image102.svg"/><Relationship Id="rId1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svg"/><Relationship Id="rId7" Type="http://schemas.openxmlformats.org/officeDocument/2006/relationships/image" Target="../media/image111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06.sv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17.jpeg"/><Relationship Id="rId12" Type="http://schemas.openxmlformats.org/officeDocument/2006/relationships/image" Target="../media/image116.svg"/><Relationship Id="rId11" Type="http://schemas.openxmlformats.org/officeDocument/2006/relationships/image" Target="../media/image115.png"/><Relationship Id="rId10" Type="http://schemas.openxmlformats.org/officeDocument/2006/relationships/image" Target="../media/image114.svg"/><Relationship Id="rId1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9.svg"/><Relationship Id="rId5" Type="http://schemas.openxmlformats.org/officeDocument/2006/relationships/image" Target="../media/image118.png"/><Relationship Id="rId4" Type="http://schemas.openxmlformats.org/officeDocument/2006/relationships/image" Target="../media/image63.svg"/><Relationship Id="rId3" Type="http://schemas.openxmlformats.org/officeDocument/2006/relationships/image" Target="../media/image77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image" Target="../media/image127.svg"/><Relationship Id="rId7" Type="http://schemas.openxmlformats.org/officeDocument/2006/relationships/image" Target="../media/image126.png"/><Relationship Id="rId6" Type="http://schemas.openxmlformats.org/officeDocument/2006/relationships/image" Target="../media/image125.svg"/><Relationship Id="rId5" Type="http://schemas.openxmlformats.org/officeDocument/2006/relationships/image" Target="../media/image124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121.sv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213350" y="1423988"/>
            <a:ext cx="6750050" cy="24555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p>
            <a:pPr marL="0" indent="0" algn="l">
              <a:lnSpc>
                <a:spcPct val="120000"/>
              </a:lnSpc>
            </a:pPr>
            <a:r>
              <a:rPr lang="zh-CN" altLang="en-US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三步去除</a:t>
            </a:r>
            <a:r>
              <a:rPr lang="en-US" altLang="zh-CN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 AI </a:t>
            </a:r>
            <a:r>
              <a:rPr lang="zh-CN" altLang="en-US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焦虑，</a:t>
            </a:r>
            <a:endParaRPr lang="zh-CN" altLang="en-US" sz="6650">
              <a:solidFill>
                <a:srgbClr val="F4F4F6"/>
              </a:solidFill>
              <a:latin typeface="造字工房方黑体" charset="-122"/>
              <a:ea typeface="造字工房方黑体" charset="-122"/>
            </a:endParaRPr>
          </a:p>
          <a:p>
            <a:pPr marL="0" indent="0" algn="l">
              <a:lnSpc>
                <a:spcPct val="120000"/>
              </a:lnSpc>
            </a:pPr>
            <a:r>
              <a:rPr lang="zh-CN" altLang="en-US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跟上</a:t>
            </a:r>
            <a:r>
              <a:rPr lang="en-US" altLang="zh-CN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 AI </a:t>
            </a:r>
            <a:r>
              <a:rPr lang="zh-CN" altLang="en-US" sz="6650">
                <a:solidFill>
                  <a:srgbClr val="F4F4F6"/>
                </a:solidFill>
                <a:latin typeface="造字工房方黑体" charset="-122"/>
                <a:ea typeface="造字工房方黑体" charset="-122"/>
              </a:rPr>
              <a:t>时代</a:t>
            </a:r>
            <a:endParaRPr lang="zh-CN" altLang="en-US" sz="6650">
              <a:solidFill>
                <a:srgbClr val="F4F4F6"/>
              </a:solidFill>
              <a:latin typeface="造字工房方黑体" charset="-122"/>
              <a:ea typeface="造字工房方黑体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213350" y="4018280"/>
            <a:ext cx="6025515" cy="4229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p>
            <a:pPr marL="0" indent="0" algn="l"/>
            <a:r>
              <a:rPr lang="en-US" altLang="zh-CN" sz="2750">
                <a:solidFill>
                  <a:srgbClr val="F6F6F7"/>
                </a:solidFill>
                <a:latin typeface="造字工房方黑体" charset="-122"/>
                <a:ea typeface="造字工房方黑体" charset="-122"/>
              </a:rPr>
              <a:t>——</a:t>
            </a:r>
            <a:r>
              <a:rPr lang="zh-CN" altLang="en-US" sz="2750">
                <a:solidFill>
                  <a:srgbClr val="F6F6F7"/>
                </a:solidFill>
                <a:latin typeface="造字工房方黑体" charset="-122"/>
                <a:ea typeface="造字工房方黑体" charset="-122"/>
              </a:rPr>
              <a:t>非技术用户</a:t>
            </a:r>
            <a:r>
              <a:rPr lang="en-US" altLang="zh-CN" sz="2750">
                <a:solidFill>
                  <a:srgbClr val="F6F6F7"/>
                </a:solidFill>
                <a:latin typeface="造字工房方黑体" charset="-122"/>
                <a:ea typeface="造字工房方黑体" charset="-122"/>
              </a:rPr>
              <a:t> AI </a:t>
            </a:r>
            <a:r>
              <a:rPr lang="zh-CN" altLang="en-US" sz="2750">
                <a:solidFill>
                  <a:srgbClr val="F6F6F7"/>
                </a:solidFill>
                <a:latin typeface="造字工房方黑体" charset="-122"/>
                <a:ea typeface="造字工房方黑体" charset="-122"/>
              </a:rPr>
              <a:t>入门工作坊</a:t>
            </a:r>
            <a:endParaRPr lang="zh-CN" altLang="en-US" sz="2750">
              <a:solidFill>
                <a:srgbClr val="F6F6F7"/>
              </a:solidFill>
              <a:latin typeface="造字工房方黑体" charset="-122"/>
              <a:ea typeface="造字工房方黑体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三步去除AI焦虑，跟上AI时代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2065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零基础非技术用户 AI 入门工作坊 · 轻松掌握核心玩法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4200" y="2413000"/>
            <a:ext cx="1117600" cy="1117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 认知破局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191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打破技术迷信，理解AI核心逻辑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消除未知带来的恐惧与焦虑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2032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2413000"/>
            <a:ext cx="1117600" cy="1117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445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 实操落地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4191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全程无代码操作演示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掌握3个即学即用的工作流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2032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6200" y="2413000"/>
            <a:ext cx="1117600" cy="1117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001000" y="368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 效率飞跃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64500" y="4191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建立AI辅助工作思维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40分钟解锁正确打开方式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577850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9600" y="59690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全程无代码 | 听完就能落地 | 40分钟解锁AI正确打开方式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先问大家3个关于 AI 的问题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841500" y="2159000"/>
            <a:ext cx="1143000" cy="1143000"/>
          </a:xfrm>
          <a:prstGeom prst="ellipse">
            <a:avLst/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413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怕跟不上时代？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064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身边人都在聊AI，自己却不知道从哪下手，感觉被时代落下了？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524500" y="2159000"/>
            <a:ext cx="1143000" cy="1143000"/>
          </a:xfrm>
          <a:prstGeom prst="ellipse">
            <a:avLst/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4130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觉得学不会？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064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想试AI工具，却被“大模型”、“prompt”这些专业术语劝退，认为没基础就不行？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064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207500" y="2159000"/>
            <a:ext cx="1143000" cy="1143000"/>
          </a:xfrm>
          <a:prstGeom prst="ellipse">
            <a:avLst/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413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感觉 AI 无关？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064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试过几次AI工具，只会问天气、写简单文案，越用越觉得AI对自己没什么实际帮助？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你的焦虑，都来自错误的认知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AI时代的思维破局：从“技术恐惧”到“工具驾驭”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EEDED">
              <a:alpha val="100000"/>
            </a:srgbClr>
          </a:solidFill>
          <a:ln cap="flat" cmpd="sng">
            <a:solidFill>
              <a:srgbClr val="E5BE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68500" y="1879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误区：AI是程序员的专属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必须懂代码、懂底层技术才能用好AI？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29500" y="1879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真相：人人可用的通用工具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无需懂技术，就像用手机/开车一样，拿来即用。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1115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EEDED">
              <a:alpha val="100000"/>
            </a:srgbClr>
          </a:solidFill>
          <a:ln cap="flat" cmpd="sng">
            <a:solidFill>
              <a:srgbClr val="E5BE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02000"/>
            <a:ext cx="812800" cy="812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68500" y="32131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误区：必须学会所有工具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贪多求全，觉得掌握所有AI工具才算跟上时代？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1115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02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32131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真相：精通1-2个即可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吃透核心工具解决真实问题，你就超过90%的人。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EEDED">
              <a:alpha val="100000"/>
            </a:srgbClr>
          </a:solidFill>
          <a:ln cap="flat" cmpd="sng">
            <a:solidFill>
              <a:srgbClr val="E5BE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635500"/>
            <a:ext cx="812800" cy="812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68500" y="4546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误区：AI会直接淘汰我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恐惧技术变革，认为AI会抢走自己的工作机会？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5207000" cy="1206500"/>
          </a:xfrm>
          <a:prstGeom prst="roundRect">
            <a:avLst>
              <a:gd name="adj" fmla="val 10526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635500"/>
            <a:ext cx="812800" cy="812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29500" y="4546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真相：AI是加速器而非对手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淘汰你的是不会用AI的人，善用AI者将更具竞争力。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4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778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核心行动：拒绝焦虑，从掌握一个AI工具开始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40分钟，你能收获这4件事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3683000"/>
          </a:xfrm>
          <a:prstGeom prst="roundRect">
            <a:avLst>
              <a:gd name="adj" fmla="val 6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21590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302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彻底告别AI焦虑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000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打破「AI离我很远」的误区，建立自信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1778000"/>
            <a:ext cx="2540000" cy="3683000"/>
          </a:xfrm>
          <a:prstGeom prst="roundRect">
            <a:avLst>
              <a:gd name="adj" fmla="val 6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18000" y="21590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413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83000" y="3302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见证AI实战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000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现场演示：零代码生成专属个人网站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778000"/>
            <a:ext cx="2540000" cy="3683000"/>
          </a:xfrm>
          <a:prstGeom prst="roundRect">
            <a:avLst>
              <a:gd name="adj" fmla="val 6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12000" y="21590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0" y="2413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77000" y="3302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3步黄金法则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000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普通人学AI的底层逻辑，听完即可落地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1778000"/>
            <a:ext cx="2540000" cy="3683000"/>
          </a:xfrm>
          <a:prstGeom prst="roundRect">
            <a:avLst>
              <a:gd name="adj" fmla="val 6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906000" y="21590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0" y="2413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271000" y="33020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通用核心技巧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1000" y="4000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掌握AI工具通用思维，走出会场就能用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5969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0" y="6070600"/>
            <a:ext cx="1219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从认知破局到实战落地，开启你的AI高效学习之旅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核心玩法：AI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代码打造专属网站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318000" cy="4064000"/>
          </a:xfrm>
          <a:prstGeom prst="roundRect">
            <a:avLst>
              <a:gd name="adj" fmla="val 6250"/>
            </a:avLst>
          </a:prstGeom>
          <a:solidFill>
            <a:srgbClr val="FFF5E6">
              <a:alpha val="100000"/>
            </a:srgbClr>
          </a:solidFill>
          <a:ln cap="flat" cmpd="sng">
            <a:solidFill>
              <a:srgbClr val="E6D3B8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222500"/>
            <a:ext cx="2540000" cy="203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444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0代码 · 全智能 · 专属定制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开启你的个人品牌第一步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588000" y="1651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40500" y="1752600"/>
            <a:ext cx="469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无需代码基础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不用敲一行代码，编程小白也能轻松上手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588000" y="2667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2857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540500" y="2768600"/>
            <a:ext cx="469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自然语言交互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只需说清你的想法，AI全程自动生成网站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588000" y="3683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2000" y="3873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540500" y="3784600"/>
            <a:ext cx="469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内容自由定制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支持个人介绍、作品展示、兴趣爱好等多种板块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588000" y="4699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2000" y="4889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540500" y="4800600"/>
            <a:ext cx="469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40分钟极速交付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高效生成流程，下课即拥有专属个人网站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立即行动：现在就构思你的网站内容吧！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零代码实操：Trae 生成个人网站全步骤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0320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68500" y="1968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新建目录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打开Trae软件，创建一个新的项目目录用于存放网站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320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24500" y="1968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新建对话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进入创建好的目录，点击新建对话，开启AI交互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874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0320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80500" y="1968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粘贴提示词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将准备好的提示词粘贴至输入框，并填入个性化需求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41910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68500" y="4127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语音录入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使用语音录入功能，快速补充更多关于网站的想法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18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4191000"/>
            <a:ext cx="711200" cy="711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24500" y="4127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优化内容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点击“优化输入内容”，让AI自动整理并润色需求描述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874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0" y="4191000"/>
            <a:ext cx="711200" cy="711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80500" y="4127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发送生成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点击发送按钮，等待Trae AI为你生成完整的个人网站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完整图文步骤，在配套学习手册里，课后可直接复刻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全场核心：普通人学AI，只需要这3步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714500" y="2540000"/>
            <a:ext cx="1397000" cy="1397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2794000"/>
            <a:ext cx="889000" cy="889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4191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第一步：了解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82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碎片化输入，快速搞懂AI的核心能力与应用边界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34000" y="2540000"/>
            <a:ext cx="1397000" cy="1397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794000"/>
            <a:ext cx="889000" cy="889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08500" y="4191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第二步：使用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82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深度用好1-2个工具，在真实工作或生活场景中落地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953500" y="2540000"/>
            <a:ext cx="1397000" cy="1397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2794000"/>
            <a:ext cx="889000" cy="889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128000" y="4191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第三步：掌握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482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建立系统化认知，精准找到属于自己的AI使用与进阶方向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6159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轻松起步 · 循序渐进 · 掌握未来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第一步：碎片化了解 —— 只记这一件事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810000" cy="4445000"/>
          </a:xfrm>
          <a:prstGeom prst="roundRect">
            <a:avLst>
              <a:gd name="adj" fmla="val 6666"/>
            </a:avLst>
          </a:prstGeom>
          <a:solidFill>
            <a:srgbClr val="FF8C00">
              <a:alpha val="8000"/>
            </a:srgbClr>
          </a:solidFill>
          <a:ln w="25400" cap="flat" cmpd="sng">
            <a:solidFill>
              <a:srgbClr val="FF8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1500" y="2032000"/>
            <a:ext cx="1651000" cy="165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393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核心目标：打破信息差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445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不用学技术，只需要搞懂「XX AI工具，能解决XX问题」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53000" y="1524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▎非技术用户专属渠道（只讲应用）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2095500"/>
            <a:ext cx="2032000" cy="2159000"/>
          </a:xfrm>
          <a:prstGeom prst="roundRect">
            <a:avLst>
              <a:gd name="adj" fmla="val 625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413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0" y="3302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公众号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量子位、AI工具集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75500" y="2095500"/>
            <a:ext cx="2032000" cy="2159000"/>
          </a:xfrm>
          <a:prstGeom prst="roundRect">
            <a:avLst>
              <a:gd name="adj" fmla="val 625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0500" y="2413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3302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短视频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搜“AI工具实操教程”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398000" y="2095500"/>
            <a:ext cx="2032000" cy="2159000"/>
          </a:xfrm>
          <a:prstGeom prst="roundRect">
            <a:avLst>
              <a:gd name="adj" fmla="val 625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000" y="2413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525000" y="3302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轻量社群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看别人场景找灵感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953000" y="4572000"/>
            <a:ext cx="6477000" cy="1397000"/>
          </a:xfrm>
          <a:prstGeom prst="roundRect">
            <a:avLst>
              <a:gd name="adj" fmla="val 13636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0500" y="4889500"/>
            <a:ext cx="762000" cy="762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4762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核心技巧：积少成多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每天5分钟，积累1个AI用法。不记术语，不贪多，实用为主。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第二步：深度使用 —— 用好1个，胜过100个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5E6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5000" y="19685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8200" y="2171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311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7E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通用效率类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文心一言 / ChatGPT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写文案、做规划、整理资料、解答问题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651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5E6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61000" y="19685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2171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08500" y="311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7E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实操创作类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AI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零代码快速搭建网页、制作实用小工具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1651000"/>
            <a:ext cx="3302000" cy="3683000"/>
          </a:xfrm>
          <a:prstGeom prst="roundRect">
            <a:avLst>
              <a:gd name="adj" fmla="val 3846"/>
            </a:avLst>
          </a:prstGeom>
          <a:solidFill>
            <a:srgbClr val="FFF5E6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17000" y="1968500"/>
            <a:ext cx="1016000" cy="1016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20200" y="21717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064500" y="311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7E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设计创作类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3619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Canva 可画 AI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64500" y="419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零基础制作海报、PPT演示文稿及各类图片设计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1600" cy="88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143000" y="5689600"/>
            <a:ext cx="1003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核心心法：</a:t>
            </a: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不用贪多求全，先选一个最匹配的工具练到精通。AI底层逻辑相通，一通百通。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用好所有AI工具的核心：会提需求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333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提需求3个黄金关键点（所有AI工具通用）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solidFill>
              <a:srgbClr val="FF8C00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87500" y="2413000"/>
            <a:ext cx="1651000" cy="1651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0" y="2730500"/>
            <a:ext cx="1016000" cy="1016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425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说清「我要做什么」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76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明确你的核心目标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拒绝模糊，指向清晰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solidFill>
              <a:srgbClr val="FF8C00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70500" y="2413000"/>
            <a:ext cx="1651000" cy="1651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730500"/>
            <a:ext cx="1016000" cy="1016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425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说清「具体要求」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476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明确细节、标准和格式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指定你想要的效果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3810000"/>
          </a:xfrm>
          <a:prstGeom prst="roundRect">
            <a:avLst>
              <a:gd name="adj" fmla="val 5769"/>
            </a:avLst>
          </a:prstGeom>
          <a:solidFill>
            <a:srgbClr val="FF8C00">
              <a:alpha val="8000"/>
            </a:srgbClr>
          </a:solidFill>
          <a:ln w="25400" cap="flat" cmpd="sng">
            <a:solidFill>
              <a:srgbClr val="FF8C00">
                <a:alpha val="3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953500" y="2413000"/>
            <a:ext cx="1651000" cy="1651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2730500"/>
            <a:ext cx="1016000" cy="1016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55000" y="425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说清「场景/身份」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762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明确语境、受众对象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让AI产出更贴合你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0" y="6413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掌握核心逻辑 · 驾驭AI效率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一看就懂：正反案例对比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模糊指令 vs 精准指令：决定AI产出质量的关键分水岭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322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EF44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730500" y="2159000"/>
            <a:ext cx="1016000" cy="10160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2349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30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反面案例：模糊需求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810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帮我写个文案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帮我做个旅游规划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帮我写个个人介绍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3225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91500" y="2159000"/>
            <a:ext cx="1016000" cy="1016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0" y="2349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330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正面案例：精准指令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810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我是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水果店店主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，写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活泼接地气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的草莓文案，突出新鲜无农药，150字内。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广州出发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2天家庭游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（带老幼），预算1k内，行程宽松，含景点餐饮。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行政新人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，写100字</a:t>
            </a:r>
            <a:r>
              <a:rPr lang="en-US" sz="13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亲切随和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的群介绍，突出细心服务。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60325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核心秘诀：指令越具体（身份+场景+风格+要求），AI越懂你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现场小练习：1分钟写下你的第一个AI需求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937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F8C00">
                  <a:alpha val="100000"/>
                </a:srgbClr>
              </a:gs>
              <a:gs pos="100000">
                <a:srgbClr val="FFA50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2286000"/>
            <a:ext cx="1905000" cy="190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4381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动手试一试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Turn Ideas Into Prompts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34000" y="18034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我要做什么？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260600"/>
            <a:ext cx="5842000" cy="4064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例如：帮我生成一份“春日露营”主题的朋友圈文案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292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238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30734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具体要求是什么？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3530600"/>
            <a:ext cx="5842000" cy="4064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例如：风格轻松活泼、带emoji、字数不超过100字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419100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50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34000" y="43434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场景与身份？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4800600"/>
            <a:ext cx="5842000" cy="4064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例如：在小红书发布，我是一个热爱生活的旅行博主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584200"/>
          </a:xfrm>
          <a:prstGeom prst="roundRect">
            <a:avLst>
              <a:gd name="adj" fmla="val 43478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提示：写完的朋友，可以举手分享，我们现场帮你优化，让需求更精准！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第三步：系统化学习——找对资源，建立认知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54200" y="2159000"/>
            <a:ext cx="1117600" cy="11176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400" y="23622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429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核心目标：明确方向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00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不学编程技术，而是搞清楚「AI能解决工作/生活里的哪些问题」，精准定位个人使用场景。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10200" y="2159000"/>
            <a:ext cx="1117600" cy="11176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3400" y="23622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445000" y="3429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零基础专属资源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4000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📚 入门书单：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《AI时代的生存法则》《普通人的AI红利》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官方培训：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阿里云AI公开课、文心一言学院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874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  <a:effectLst>
            <a:outerShdw blurRad="2032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966200" y="2159000"/>
            <a:ext cx="1117600" cy="11176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69400" y="2362200"/>
            <a:ext cx="711200" cy="711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001000" y="3429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核心理念：认知升级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4000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系统化学习≠学算法。重点是建立对AI的整体认知，找到适合自己的切入点，让AI真正落地服务。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FF8C00">
              <a:alpha val="90000"/>
            </a:srgbClr>
          </a:solidFill>
          <a:ln cap="flat" cmpd="sng">
            <a:solidFill>
              <a:srgbClr val="E67E00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AI学习的终极目标：让AI成为你的高效助手，而非技术专家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成果展示：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的专属网站，做好了！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286000" y="1651000"/>
            <a:ext cx="7620000" cy="3556000"/>
          </a:xfrm>
          <a:prstGeom prst="roundRect">
            <a:avLst>
              <a:gd name="adj" fmla="val 5357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651000"/>
            <a:ext cx="76200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00" y="2413000"/>
            <a:ext cx="1016000" cy="1016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3556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www.your-site.com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4064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响应式布局 · 精美设计 · 功能完善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61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6261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01800" y="5562600"/>
            <a:ext cx="215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全程零代码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无需编程基础，简单拖拽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5461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56261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57800" y="5562600"/>
            <a:ext cx="215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10分钟极速生成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从构思到上线，一气呵成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874000" y="5461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8000" y="56261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5562600"/>
            <a:ext cx="2159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自动化处理逻辑与样式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核心复盘：普通人用AI，只需要做好3件事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752600" y="2032000"/>
            <a:ext cx="1320800" cy="1320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6600" y="2286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提清晰的需求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064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抓住3个黄金关键点，精准描述你想要的内容与目标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308600" y="2032000"/>
            <a:ext cx="1320800" cy="1320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600" y="22860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445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做成果验收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4064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无需懂技术，只看结果是否符合预期，不符即要求修改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7ED">
              <a:alpha val="100000"/>
            </a:srgbClr>
          </a:solidFill>
          <a:ln cap="flat" cmpd="sng">
            <a:solidFill>
              <a:srgbClr val="E6D4BE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864600" y="2032000"/>
            <a:ext cx="1320800" cy="1320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600" y="2286000"/>
            <a:ext cx="812800" cy="812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001000" y="355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做最终决策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64500" y="4064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AI是你的智能助理，永远保留最终的选择权和决定权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032500"/>
            <a:ext cx="12192000" cy="825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0" y="61976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掌握核心逻辑，轻松驾驭AI生产力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课后落地：当天就能做的2件小事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3429000"/>
          </a:xfrm>
          <a:prstGeom prst="roundRect">
            <a:avLst>
              <a:gd name="adj" fmla="val 7407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43000" y="2159000"/>
            <a:ext cx="1143000" cy="1143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2476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2159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行动1：立刻实操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40000" y="2794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打开Trae，用今天学的提需求技巧，让AI帮你做一件小事（写个人介绍、做旅游规划、复刻个人网站）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3429000"/>
          </a:xfrm>
          <a:prstGeom prst="roundRect">
            <a:avLst>
              <a:gd name="adj" fmla="val 7407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04000" y="2159000"/>
            <a:ext cx="1143000" cy="11430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500" y="2476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001000" y="2159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行动2：持续积累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794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关注1个今天推荐的AI公众号/短视频账号，每天花5分钟，看一个AI工具用法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6896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1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告别AI焦虑的唯一方法，就是真正用起来，不用怕错，大胆试、大胆用 ”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专属福利：零基础AI入门资源包免费领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556000" cy="3937000"/>
          </a:xfrm>
          <a:prstGeom prst="roundRect">
            <a:avLst>
              <a:gd name="adj" fmla="val 3571"/>
            </a:avLst>
          </a:prstGeom>
          <a:gradFill rotWithShape="1">
            <a:gsLst>
              <a:gs pos="0">
                <a:srgbClr val="FF8C00">
                  <a:alpha val="100000"/>
                </a:srgbClr>
              </a:gs>
              <a:gs pos="100000">
                <a:srgbClr val="FFAA32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33500" y="2159000"/>
            <a:ext cx="2413000" cy="24130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7500" y="2413000"/>
            <a:ext cx="1905000" cy="190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4826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扫码添加微信/进群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即刻解锁全套资源包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699000" y="1651000"/>
            <a:ext cx="6731000" cy="711200"/>
          </a:xfrm>
          <a:prstGeom prst="roundRect">
            <a:avLst>
              <a:gd name="adj" fmla="val 8928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18161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24500" y="18034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本次培训配套学习手册（电子版）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489200"/>
            <a:ext cx="6731000" cy="711200"/>
          </a:xfrm>
          <a:prstGeom prst="roundRect">
            <a:avLst>
              <a:gd name="adj" fmla="val 8928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0" y="26543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24500" y="26416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Trae基础操作图文指南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327400"/>
            <a:ext cx="6731000" cy="711200"/>
          </a:xfrm>
          <a:prstGeom prst="roundRect">
            <a:avLst>
              <a:gd name="adj" fmla="val 8928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00" y="3492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24500" y="34798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AI提需求万能模板合集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165600"/>
            <a:ext cx="6731000" cy="711200"/>
          </a:xfrm>
          <a:prstGeom prst="roundRect">
            <a:avLst>
              <a:gd name="adj" fmla="val 8928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3000" y="43307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24500" y="43180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推荐学习渠道+资源完整清单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5003800"/>
            <a:ext cx="6731000" cy="711200"/>
          </a:xfrm>
          <a:prstGeom prst="roundRect">
            <a:avLst>
              <a:gd name="adj" fmla="val 8928"/>
            </a:avLst>
          </a:prstGeom>
          <a:solidFill>
            <a:srgbClr val="FFF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53000" y="51689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524500" y="51562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本次培训PPT电子版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FF8C00">
              <a:alpha val="1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60452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限时免费领取，助您快速开启AI进阶之路！</a:t>
            </a:r>
            <a:endParaRPr lang="en-US" sz="1100"/>
          </a:p>
        </p:txBody>
      </p:sp>
      <p:pic>
        <p:nvPicPr>
          <p:cNvPr id="24" name="图片 23" descr="VPM李星"/>
          <p:cNvPicPr>
            <a:picLocks noChangeAspect="1"/>
          </p:cNvPicPr>
          <p:nvPr/>
        </p:nvPicPr>
        <p:blipFill>
          <a:blip r:embed="rId13"/>
          <a:srcRect l="15451" t="33815" r="15230" b="34213"/>
          <a:stretch>
            <a:fillRect/>
          </a:stretch>
        </p:blipFill>
        <p:spPr>
          <a:xfrm>
            <a:off x="1708150" y="2541270"/>
            <a:ext cx="1664335" cy="16617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3句话，告别AI焦虑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5E6">
              <a:alpha val="100000"/>
            </a:srgbClr>
          </a:solidFill>
          <a:ln cap="flat" cmpd="sng">
            <a:solidFill>
              <a:srgbClr val="E6D3B8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68500" y="2286000"/>
            <a:ext cx="889000" cy="8890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2500" y="2540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365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学习路径三步走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普通人学AI只需「了解→使用→掌握」，层层递进，无需任何技术基础。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905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5E6">
              <a:alpha val="100000"/>
            </a:srgbClr>
          </a:solidFill>
          <a:ln cap="flat" cmpd="sng">
            <a:solidFill>
              <a:srgbClr val="E6D3B8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524500" y="2286000"/>
            <a:ext cx="889000" cy="8890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540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3365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角色定位要清晰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93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AI是工具而非对手。它负责高效执行，我们负责提需求、做决策与把控方向。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74000" y="1905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5E6">
              <a:alpha val="100000"/>
            </a:srgbClr>
          </a:solidFill>
          <a:ln cap="flat" cmpd="sng">
            <a:solidFill>
              <a:srgbClr val="E6D3B8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080500" y="2286000"/>
            <a:ext cx="889000" cy="889000"/>
          </a:xfrm>
          <a:prstGeom prst="ellipse">
            <a:avLst/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25400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28000" y="3365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消除焦虑靠行动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393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AI的门槛从来不是技术，而是「敢用」。多尝试一次，对未知的焦虑就少一分。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5969000"/>
            <a:ext cx="12192000" cy="88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cap="flat" cmpd="sng">
            <a:solidFill>
              <a:srgbClr val="E67E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0" y="615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勇敢迈出第一步，让AI成为你的超级助理 ”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51000" y="762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</a:t>
            </a:r>
            <a:r>
              <a:rPr lang="en-US" altLang="zh-CN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&amp; </a:t>
            </a:r>
            <a:r>
              <a:rPr lang="zh-CN" alt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交流环节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651000" y="1651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Session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23431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rnd" cmpd="sng">
            <a:solidFill>
              <a:srgbClr val="FF8C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1000" y="2667000"/>
            <a:ext cx="1270000" cy="1270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4191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欢迎提出您的疑问，我们一起探讨 AI 学习与实践的无限可能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4953000"/>
            <a:ext cx="12192000" cy="1905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51435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54356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68500" y="5397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加入交流群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扫码入群，获取资料</a:t>
            </a:r>
            <a:endParaRPr lang="en-US" sz="13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51435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54356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651500" y="5397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关注公众号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干货教程，定期更新</a:t>
            </a:r>
            <a:endParaRPr lang="en-US" sz="13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51435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FF8C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5500" y="54356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334500" y="5397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Tel: 137-6435-6791</a:t>
            </a:r>
            <a:endParaRPr lang="en-US" sz="13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</p:tagLst>
</file>

<file path=ppt/tags/tag2.xml><?xml version="1.0" encoding="utf-8"?>
<p:tagLst xmlns:p="http://schemas.openxmlformats.org/presentationml/2006/main">
  <p:tag name="KSO_WM_UNIT_TYPE" val="b"/>
</p:tagLst>
</file>

<file path=ppt/tags/tag3.xml><?xml version="1.0" encoding="utf-8"?>
<p:tagLst xmlns:p="http://schemas.openxmlformats.org/presentationml/2006/main">
  <p:tag name="KSO_WM_BEAUTIFY_FLAG" val="#wm#"/>
  <p:tag name="KSO_WM_TAG_VERSION" val="3.0"/>
  <p:tag name="KSO_WM_SLIDE_TYPE" val="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3128</Words>
  <Application>WPS 演示</Application>
  <PresentationFormat/>
  <Paragraphs>344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造字工房方黑体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Ding</cp:lastModifiedBy>
  <cp:revision>5</cp:revision>
  <dcterms:created xsi:type="dcterms:W3CDTF">2026-04-05T07:57:00Z</dcterms:created>
  <dcterms:modified xsi:type="dcterms:W3CDTF">2026-04-08T13:32:36Z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7A63305344854E69A5B6582D86481B27_12</vt:lpwstr>
  </property>
</Properties>
</file>